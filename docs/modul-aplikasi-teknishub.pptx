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762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0" b="1">
                <a:solidFill>
                  <a:srgbClr val="FFFFFF"/>
                </a:solidFill>
                <a:latin typeface="Segoe UI Light"/>
              </a:rPr>
              <a:t>TEKNISHUB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089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Segoe UI Light"/>
              </a:rPr>
              <a:t>SISTEM MANAJEMEN DOKUMEN &amp; INFORMASI DIVISI TEKNIS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3192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DD9DE"/>
                </a:solidFill>
                <a:latin typeface="Segoe UI"/>
              </a:rPr>
              <a:t>Modul Pelatihan &amp; Panduan Penggunaan Aplikasi
KPU (Kabupaten) — Divisi Teknis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Segoe UI"/>
              </a:rPr>
              <a:t>Pusat Dokumen dan Informasi Divisi Teknis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33500"/>
            <a:ext cx="12191695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C8102E"/>
                </a:solidFill>
                <a:latin typeface="Segoe UI"/>
              </a:rPr>
              <a:t>PENGANTAR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Segoe UI Light"/>
              </a:rPr>
              <a:t>Apa Itu TeknisHub?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228600"/>
            <a:ext cx="1005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>
                <a:solidFill>
                  <a:srgbClr val="6B7280"/>
                </a:solidFill>
                <a:latin typeface="Segoe U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1">
                <a:solidFill>
                  <a:srgbClr val="C9A227"/>
                </a:solidFill>
                <a:latin typeface="Segoe UI"/>
              </a:rPr>
              <a:t>▪  </a:t>
            </a:r>
            <a:r>
              <a:rPr sz="1700" b="1">
                <a:solidFill>
                  <a:srgbClr val="1F2937"/>
                </a:solidFill>
                <a:latin typeface="Segoe UI"/>
              </a:rPr>
              <a:t>Aplikasi web internal Divisi Teknis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C9A227"/>
                </a:solidFill>
                <a:latin typeface="Segoe UI"/>
              </a:rPr>
              <a:t>▪  </a:t>
            </a:r>
            <a:r>
              <a:rPr sz="1700" b="1">
                <a:solidFill>
                  <a:srgbClr val="1F2937"/>
                </a:solidFill>
                <a:latin typeface="Segoe UI"/>
              </a:rPr>
              <a:t>Pusat penyimpanan dokumen resmi secara terpusat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C9A227"/>
                </a:solidFill>
                <a:latin typeface="Segoe UI"/>
              </a:rPr>
              <a:t>▪  </a:t>
            </a:r>
            <a:r>
              <a:rPr sz="1700" b="1">
                <a:solidFill>
                  <a:srgbClr val="1F2937"/>
                </a:solidFill>
                <a:latin typeface="Segoe UI"/>
              </a:rPr>
              <a:t>Dokumen mudah dicari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C9A227"/>
                </a:solidFill>
                <a:latin typeface="Segoe UI"/>
              </a:rPr>
              <a:t>▪  </a:t>
            </a:r>
            <a:r>
              <a:rPr sz="1700" b="1">
                <a:solidFill>
                  <a:srgbClr val="1F2937"/>
                </a:solidFill>
                <a:latin typeface="Segoe UI"/>
              </a:rPr>
              <a:t>Aman:</a:t>
            </a:r>
            <a:r>
              <a:rPr sz="1700" b="0">
                <a:solidFill>
                  <a:srgbClr val="6B7280"/>
                </a:solidFill>
                <a:latin typeface="Segoe UI"/>
              </a:rPr>
              <a:t> file privat + hak akses berbasis peran (RBAC)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C9A227"/>
                </a:solidFill>
                <a:latin typeface="Segoe UI"/>
              </a:rPr>
              <a:t>▪  </a:t>
            </a:r>
            <a:r>
              <a:rPr sz="1700" b="1">
                <a:solidFill>
                  <a:srgbClr val="1F2937"/>
                </a:solidFill>
                <a:latin typeface="Segoe UI"/>
              </a:rPr>
              <a:t>Desain mengikuti warna khas KPU (merah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C9A227"/>
                </a:solidFill>
                <a:latin typeface="Segoe UI"/>
              </a:rPr>
              <a:t>▪  </a:t>
            </a:r>
            <a:r>
              <a:rPr sz="1700" b="1">
                <a:solidFill>
                  <a:srgbClr val="1F2937"/>
                </a:solidFill>
                <a:latin typeface="Segoe UI"/>
              </a:rPr>
              <a:t>Digarap bertahap — seluruh fase inti (1–11) selesai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828800"/>
            <a:ext cx="5029200" cy="39319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2057400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C8102E"/>
                </a:solidFill>
                <a:latin typeface="Segoe UI"/>
              </a:rPr>
              <a:t>Modul utama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560320"/>
            <a:ext cx="43891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▪  Dokumen, versi &amp; arsip</a:t>
            </a:r>
          </a:p>
          <a:p>
            <a:pPr algn="l">
              <a:spcAft>
                <a:spcPts val="900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▪  Pencarian, filter &amp; ekspor CSV</a:t>
            </a:r>
          </a:p>
          <a:p>
            <a:pPr algn="l">
              <a:spcAft>
                <a:spcPts val="900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▪  Favorit &amp; notifikasi</a:t>
            </a:r>
          </a:p>
          <a:p>
            <a:pPr algn="l">
              <a:spcAft>
                <a:spcPts val="900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▪  Pengguna, role &amp; permission</a:t>
            </a:r>
          </a:p>
          <a:p>
            <a:pPr algn="l">
              <a:spcAft>
                <a:spcPts val="900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▪  Aktivitas (audit log)</a:t>
            </a:r>
          </a:p>
          <a:p>
            <a:pPr algn="l">
              <a:spcAft>
                <a:spcPts val="900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▪  Pengaturan &amp; backup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33500"/>
            <a:ext cx="12191695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C8102E"/>
                </a:solidFill>
                <a:latin typeface="Segoe UI"/>
              </a:rPr>
              <a:t>PENGANTAR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Segoe UI Light"/>
              </a:rPr>
              <a:t>Tujuan &amp; Manfaat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228600"/>
            <a:ext cx="1005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>
                <a:solidFill>
                  <a:srgbClr val="6B7280"/>
                </a:solidFill>
                <a:latin typeface="Segoe UI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3566160" cy="2240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146304" cy="224028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01952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C8102E"/>
                </a:solidFill>
                <a:latin typeface="Segoe UI"/>
              </a:rPr>
              <a:t>Sentralisasi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95728"/>
            <a:ext cx="31089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1F2937"/>
                </a:solidFill>
                <a:latin typeface="Segoe UI"/>
              </a:rPr>
              <a:t>Semua dokumen resmi tersimpan di satu tempat yang terstruktur dan konsisten.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53128" y="1737360"/>
            <a:ext cx="3566160" cy="2240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53128" y="1737360"/>
            <a:ext cx="146304" cy="224028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73168" y="1901952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C8102E"/>
                </a:solidFill>
                <a:latin typeface="Segoe UI"/>
              </a:rPr>
              <a:t>Temuan cepat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2395728"/>
            <a:ext cx="31089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1F2937"/>
                </a:solidFill>
                <a:latin typeface="Segoe UI"/>
              </a:rPr>
              <a:t>Pencarian lintas kolom + filter kombinasi + ekspor CSV untuk kebutuhan laporan.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66176" y="1737360"/>
            <a:ext cx="3566160" cy="2240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66176" y="1737360"/>
            <a:ext cx="146304" cy="224028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86216" y="1901952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C8102E"/>
                </a:solidFill>
                <a:latin typeface="Segoe UI"/>
              </a:rPr>
              <a:t>Kontrol akses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86216" y="2395728"/>
            <a:ext cx="31089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1F2937"/>
                </a:solidFill>
                <a:latin typeface="Segoe UI"/>
              </a:rPr>
              <a:t>Setiap pengguna hanya melihat dan bertindak sesuai peran &amp; permission-nya.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251960"/>
            <a:ext cx="3566160" cy="2240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251960"/>
            <a:ext cx="146304" cy="224028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416552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C8102E"/>
                </a:solidFill>
                <a:latin typeface="Segoe UI"/>
              </a:rPr>
              <a:t>Riwayat versi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910328"/>
            <a:ext cx="31089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1F2937"/>
                </a:solidFill>
                <a:latin typeface="Segoe UI"/>
              </a:rPr>
              <a:t>Setiap perubahan dokumen terdokumentasi (v1, v2, …) lengkap dengan catatan.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53128" y="4251960"/>
            <a:ext cx="3566160" cy="2240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53128" y="4251960"/>
            <a:ext cx="146304" cy="224028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73168" y="4416552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C8102E"/>
                </a:solidFill>
                <a:latin typeface="Segoe UI"/>
              </a:rPr>
              <a:t>Jejak audit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73168" y="4910328"/>
            <a:ext cx="31089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1F2937"/>
                </a:solidFill>
                <a:latin typeface="Segoe UI"/>
              </a:rPr>
              <a:t>Seluruh aktivitas penting tercatat pada Audit Log untuk pertanggungjawaban.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66176" y="4251960"/>
            <a:ext cx="3566160" cy="2240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66176" y="4251960"/>
            <a:ext cx="146304" cy="224028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86216" y="4416552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C8102E"/>
                </a:solidFill>
                <a:latin typeface="Segoe UI"/>
              </a:rPr>
              <a:t>Keamanan file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86216" y="4910328"/>
            <a:ext cx="31089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1F2937"/>
                </a:solidFill>
                <a:latin typeface="Segoe UI"/>
              </a:rPr>
              <a:t>Dokumen disimpan privat — tanpa tautan publik; akses hanya lewat aplikasi.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33500"/>
            <a:ext cx="12191695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C8102E"/>
                </a:solidFill>
                <a:latin typeface="Segoe UI"/>
              </a:rPr>
              <a:t>AKSES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Segoe UI Light"/>
              </a:rPr>
              <a:t>Peran &amp; Hak Akses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228600"/>
            <a:ext cx="1005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>
                <a:solidFill>
                  <a:srgbClr val="6B7280"/>
                </a:solidFill>
                <a:latin typeface="Segoe UI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10881360" cy="10515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64792"/>
            <a:ext cx="23774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C8102E"/>
                </a:solidFill>
                <a:latin typeface="Segoe UI"/>
              </a:rPr>
              <a:t>SUPER ADMIN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801368"/>
            <a:ext cx="7863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1F2937"/>
                </a:solidFill>
                <a:latin typeface="Segoe UI"/>
              </a:rPr>
              <a:t>Semua hak — dokumen, referensi, pengguna, role, audit, pengaturan, backup.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862072"/>
            <a:ext cx="10881360" cy="10515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935224"/>
            <a:ext cx="23774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C8102E"/>
                </a:solidFill>
                <a:latin typeface="Segoe UI"/>
              </a:rPr>
              <a:t>ADMIN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971800"/>
            <a:ext cx="7863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1F2937"/>
                </a:solidFill>
                <a:latin typeface="Segoe UI"/>
              </a:rPr>
              <a:t>Kelola dokumen, referensi, pengguna, dan melihat aktivitas audit.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032504"/>
            <a:ext cx="10881360" cy="10515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105656"/>
            <a:ext cx="23774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C8102E"/>
                </a:solidFill>
                <a:latin typeface="Segoe UI"/>
              </a:rPr>
              <a:t>OPERATOR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4142232"/>
            <a:ext cx="7863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1F2937"/>
                </a:solidFill>
                <a:latin typeface="Segoe UI"/>
              </a:rPr>
              <a:t>Membuat, mengubah, mengunduh dokumen serta mengelola versi.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202936"/>
            <a:ext cx="10881360" cy="10515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276088"/>
            <a:ext cx="23774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C8102E"/>
                </a:solidFill>
                <a:latin typeface="Segoe UI"/>
              </a:rPr>
              <a:t>VIEWER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5312664"/>
            <a:ext cx="7863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1F2937"/>
                </a:solidFill>
                <a:latin typeface="Segoe UI"/>
              </a:rPr>
              <a:t>Melihat, mengunduh, dan mempratinjau dokumen.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64808"/>
            <a:ext cx="10881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Segoe UI"/>
              </a:rPr>
              <a:t>Menu pada sidebar otomatis menyesuaikan hak akses masing-masing pengguna.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33500"/>
            <a:ext cx="12191695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C8102E"/>
                </a:solidFill>
                <a:latin typeface="Segoe UI"/>
              </a:rPr>
              <a:t>ALUR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Segoe UI Light"/>
              </a:rPr>
              <a:t>Alur Penggunaan Secara Ringkas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228600"/>
            <a:ext cx="1005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>
                <a:solidFill>
                  <a:srgbClr val="6B7280"/>
                </a:solidFill>
                <a:latin typeface="Segoe UI"/>
              </a:rPr>
              <a:t>5</a:t>
            </a:r>
          </a:p>
        </p:txBody>
      </p:sp>
      <p:sp>
        <p:nvSpPr>
          <p:cNvPr id="7" name="Chevron 6"/>
          <p:cNvSpPr/>
          <p:nvPr/>
        </p:nvSpPr>
        <p:spPr>
          <a:xfrm>
            <a:off x="502920" y="2377440"/>
            <a:ext cx="1810512" cy="914400"/>
          </a:xfrm>
          <a:prstGeom prst="chevron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Login</a:t>
            </a:r>
          </a:p>
        </p:txBody>
      </p:sp>
      <p:sp>
        <p:nvSpPr>
          <p:cNvPr id="8" name="Chevron 7"/>
          <p:cNvSpPr/>
          <p:nvPr/>
        </p:nvSpPr>
        <p:spPr>
          <a:xfrm>
            <a:off x="2441448" y="2377440"/>
            <a:ext cx="1810512" cy="914400"/>
          </a:xfrm>
          <a:prstGeom prst="chevron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Dashboard</a:t>
            </a:r>
          </a:p>
        </p:txBody>
      </p:sp>
      <p:sp>
        <p:nvSpPr>
          <p:cNvPr id="9" name="Chevron 8"/>
          <p:cNvSpPr/>
          <p:nvPr/>
        </p:nvSpPr>
        <p:spPr>
          <a:xfrm>
            <a:off x="4379976" y="2377440"/>
            <a:ext cx="1810512" cy="914400"/>
          </a:xfrm>
          <a:prstGeom prst="chevron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Cari/Filter
Dokumen</a:t>
            </a:r>
          </a:p>
        </p:txBody>
      </p:sp>
      <p:sp>
        <p:nvSpPr>
          <p:cNvPr id="10" name="Chevron 9"/>
          <p:cNvSpPr/>
          <p:nvPr/>
        </p:nvSpPr>
        <p:spPr>
          <a:xfrm>
            <a:off x="6318504" y="2377440"/>
            <a:ext cx="1810512" cy="914400"/>
          </a:xfrm>
          <a:prstGeom prst="chevron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Buka &amp; Unduh</a:t>
            </a:r>
          </a:p>
        </p:txBody>
      </p:sp>
      <p:sp>
        <p:nvSpPr>
          <p:cNvPr id="11" name="Chevron 10"/>
          <p:cNvSpPr/>
          <p:nvPr/>
        </p:nvSpPr>
        <p:spPr>
          <a:xfrm>
            <a:off x="8257032" y="2377440"/>
            <a:ext cx="1810512" cy="914400"/>
          </a:xfrm>
          <a:prstGeom prst="chevron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Unggah /
Versi</a:t>
            </a:r>
          </a:p>
        </p:txBody>
      </p:sp>
      <p:sp>
        <p:nvSpPr>
          <p:cNvPr id="12" name="Chevron 11"/>
          <p:cNvSpPr/>
          <p:nvPr/>
        </p:nvSpPr>
        <p:spPr>
          <a:xfrm>
            <a:off x="10195560" y="2377440"/>
            <a:ext cx="1810512" cy="914400"/>
          </a:xfrm>
          <a:prstGeom prst="chevron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Arsip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40480"/>
            <a:ext cx="1737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C8102E"/>
                </a:solidFill>
                <a:latin typeface="Segoe UI"/>
              </a:rPr>
              <a:t>1. Login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84048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1F2937"/>
                </a:solidFill>
                <a:latin typeface="Segoe UI"/>
              </a:rPr>
              <a:t>Gunakan akun yang diberikan admin (email + katasandi).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407408"/>
            <a:ext cx="1737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C8102E"/>
                </a:solidFill>
                <a:latin typeface="Segoe UI"/>
              </a:rPr>
              <a:t>2. 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4407408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1F2937"/>
                </a:solidFill>
                <a:latin typeface="Segoe UI"/>
              </a:rPr>
              <a:t>Pantau statistik, dokumen terbaru, aktivitas, dan favorit.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974336"/>
            <a:ext cx="1737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C8102E"/>
                </a:solidFill>
                <a:latin typeface="Segoe UI"/>
              </a:rPr>
              <a:t>3. Cari &amp; filter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4974336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1F2937"/>
                </a:solidFill>
                <a:latin typeface="Segoe UI"/>
              </a:rPr>
              <a:t>Temukan dokumen via kata kunci atau kombinasi filter.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541264"/>
            <a:ext cx="1737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C8102E"/>
                </a:solidFill>
                <a:latin typeface="Segoe UI"/>
              </a:rPr>
              <a:t>4. Buka &amp; unduh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5541264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1F2937"/>
                </a:solidFill>
                <a:latin typeface="Segoe UI"/>
              </a:rPr>
              <a:t>Pratinjau (tab baru) atau unduh file PDF resmi.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108192"/>
            <a:ext cx="1737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C8102E"/>
                </a:solidFill>
                <a:latin typeface="Segoe UI"/>
              </a:rPr>
              <a:t>5. Kelola versi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6108192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1F2937"/>
                </a:solidFill>
                <a:latin typeface="Segoe UI"/>
              </a:rPr>
              <a:t>Unggah versi baru saat dokumen diperbarui; selalu tersimpan jejaknya.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76656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Segoe UI"/>
              </a:rPr>
              <a:t>Setiap aksi dicek otorisasinya — tanpa permission, tombol/menu disembunyikan atau ditolak (403).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33500"/>
            <a:ext cx="12191695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C8102E"/>
                </a:solidFill>
                <a:latin typeface="Segoe UI"/>
              </a:rPr>
              <a:t>MEMULAI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Segoe UI Light"/>
              </a:rPr>
              <a:t>Login ke Aplikasi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228600"/>
            <a:ext cx="1005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>
                <a:solidFill>
                  <a:srgbClr val="6B7280"/>
                </a:solidFill>
                <a:latin typeface="Segoe U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5852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1">
                <a:solidFill>
                  <a:srgbClr val="C9A227"/>
                </a:solidFill>
                <a:latin typeface="Segoe UI"/>
              </a:rPr>
              <a:t>▪  </a:t>
            </a:r>
            <a:r>
              <a:rPr sz="1700" b="1">
                <a:solidFill>
                  <a:srgbClr val="1F2937"/>
                </a:solidFill>
                <a:latin typeface="Segoe UI"/>
              </a:rPr>
              <a:t>Buka alamat aplikasi TeknisHub (diberikan admin/webmaster).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C9A227"/>
                </a:solidFill>
                <a:latin typeface="Segoe UI"/>
              </a:rPr>
              <a:t>▪  </a:t>
            </a:r>
            <a:r>
              <a:rPr sz="1700" b="1">
                <a:solidFill>
                  <a:srgbClr val="1F2937"/>
                </a:solidFill>
                <a:latin typeface="Segoe UI"/>
              </a:rPr>
              <a:t>Halaman / atau /login otomatis mengarahkan ke form login.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C9A227"/>
                </a:solidFill>
                <a:latin typeface="Segoe UI"/>
              </a:rPr>
              <a:t>▪  </a:t>
            </a:r>
            <a:r>
              <a:rPr sz="1700" b="1">
                <a:solidFill>
                  <a:srgbClr val="1F2937"/>
                </a:solidFill>
                <a:latin typeface="Segoe UI"/>
              </a:rPr>
              <a:t>Masukkan email &amp; kata sandi akun Anda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C9A227"/>
                </a:solidFill>
                <a:latin typeface="Segoe UI"/>
              </a:rPr>
              <a:t>▪  </a:t>
            </a:r>
            <a:r>
              <a:rPr sz="1700" b="1">
                <a:solidFill>
                  <a:srgbClr val="1F2937"/>
                </a:solidFill>
                <a:latin typeface="Segoe UI"/>
              </a:rPr>
              <a:t>Gagal masuk:</a:t>
            </a:r>
            <a:r>
              <a:rPr sz="1700" b="0">
                <a:solidFill>
                  <a:srgbClr val="6B7280"/>
                </a:solidFill>
                <a:latin typeface="Segoe UI"/>
              </a:rPr>
              <a:t> periksa kembali kredensial / minta bantuan admin.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C9A227"/>
                </a:solidFill>
                <a:latin typeface="Segoe UI"/>
              </a:rPr>
              <a:t>▪  </a:t>
            </a:r>
            <a:r>
              <a:rPr sz="1700" b="1">
                <a:solidFill>
                  <a:srgbClr val="1F2937"/>
                </a:solidFill>
                <a:latin typeface="Segoe UI"/>
              </a:rPr>
              <a:t>Pembatasan:</a:t>
            </a:r>
            <a:r>
              <a:rPr sz="1700" b="0">
                <a:solidFill>
                  <a:srgbClr val="6B7280"/>
                </a:solidFill>
                <a:latin typeface="Segoe UI"/>
              </a:rPr>
              <a:t> login dibatasi maksimal 5 kali percobaan per menit.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C9A227"/>
                </a:solidFill>
                <a:latin typeface="Segoe UI"/>
              </a:rPr>
              <a:t>▪  </a:t>
            </a:r>
            <a:r>
              <a:rPr sz="1700" b="1">
                <a:solidFill>
                  <a:srgbClr val="1F2937"/>
                </a:solidFill>
                <a:latin typeface="Segoe UI"/>
              </a:rPr>
              <a:t>Klik nama Anda di kanan-atas untuk profil atau keluar.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1828800"/>
            <a:ext cx="4846320" cy="38404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0" y="205740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C8102E"/>
                </a:solidFill>
                <a:latin typeface="Segoe UI"/>
              </a:rPr>
              <a:t>Tips login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560320"/>
            <a:ext cx="4114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450" b="0">
                <a:solidFill>
                  <a:srgbClr val="1F2937"/>
                </a:solidFill>
                <a:latin typeface="Segoe UI"/>
              </a:rPr>
              <a:t>▪  Gunakan akun kantor/instansi.</a:t>
            </a:r>
          </a:p>
          <a:p>
            <a:pPr algn="l">
              <a:spcAft>
                <a:spcPts val="900"/>
              </a:spcAft>
            </a:pPr>
            <a:r>
              <a:rPr sz="1450" b="0">
                <a:solidFill>
                  <a:srgbClr val="1F2937"/>
                </a:solidFill>
                <a:latin typeface="Segoe UI"/>
              </a:rPr>
              <a:t>▪  Akun dinonaktifkan tidak dapat masuk.</a:t>
            </a:r>
          </a:p>
          <a:p>
            <a:pPr algn="l">
              <a:spcAft>
                <a:spcPts val="900"/>
              </a:spcAft>
            </a:pPr>
            <a:r>
              <a:rPr sz="1450" b="0">
                <a:solidFill>
                  <a:srgbClr val="1F2937"/>
                </a:solidFill>
                <a:latin typeface="Segoe UI"/>
              </a:rPr>
              <a:t>▪  Jangan membagikan katasandi.</a:t>
            </a:r>
          </a:p>
          <a:p>
            <a:pPr algn="l">
              <a:spcAft>
                <a:spcPts val="900"/>
              </a:spcAft>
            </a:pPr>
            <a:r>
              <a:rPr sz="1450" b="0">
                <a:solidFill>
                  <a:srgbClr val="1F2937"/>
                </a:solidFill>
                <a:latin typeface="Segoe UI"/>
              </a:rPr>
              <a:t>▪  Hubungi admin jika belum punya akun.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33500"/>
            <a:ext cx="12191695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C8102E"/>
                </a:solidFill>
                <a:latin typeface="Segoe UI"/>
              </a:rPr>
              <a:t>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Segoe UI Light"/>
              </a:rPr>
              <a:t>Halaman Utama Setelah Login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228600"/>
            <a:ext cx="1005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>
                <a:solidFill>
                  <a:srgbClr val="6B7280"/>
                </a:solidFill>
                <a:latin typeface="Segoe U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5852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1">
                <a:solidFill>
                  <a:srgbClr val="C9A227"/>
                </a:solidFill>
                <a:latin typeface="Segoe UI"/>
              </a:rPr>
              <a:t>▪  </a:t>
            </a:r>
            <a:r>
              <a:rPr sz="1700" b="1">
                <a:solidFill>
                  <a:srgbClr val="1F2937"/>
                </a:solidFill>
                <a:latin typeface="Segoe UI"/>
              </a:rPr>
              <a:t>Ringkasan kinerja penyimpanan dokumen (KPI kartu statistik).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C9A227"/>
                </a:solidFill>
                <a:latin typeface="Segoe UI"/>
              </a:rPr>
              <a:t>▪  </a:t>
            </a:r>
            <a:r>
              <a:rPr sz="1700" b="1">
                <a:solidFill>
                  <a:srgbClr val="1F2937"/>
                </a:solidFill>
                <a:latin typeface="Segoe UI"/>
              </a:rPr>
              <a:t>Total dokumen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C9A227"/>
                </a:solidFill>
                <a:latin typeface="Segoe UI"/>
              </a:rPr>
              <a:t>▪  </a:t>
            </a:r>
            <a:r>
              <a:rPr sz="1700" b="1">
                <a:solidFill>
                  <a:srgbClr val="1F2937"/>
                </a:solidFill>
                <a:latin typeface="Segoe UI"/>
              </a:rPr>
              <a:t>Jumlah versi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C9A227"/>
                </a:solidFill>
                <a:latin typeface="Segoe UI"/>
              </a:rPr>
              <a:t>▪  </a:t>
            </a:r>
            <a:r>
              <a:rPr sz="1700" b="1">
                <a:solidFill>
                  <a:srgbClr val="1F2937"/>
                </a:solidFill>
                <a:latin typeface="Segoe UI"/>
              </a:rPr>
              <a:t>Info:</a:t>
            </a:r>
            <a:r>
              <a:rPr sz="1700" b="0">
                <a:solidFill>
                  <a:srgbClr val="6B7280"/>
                </a:solidFill>
                <a:latin typeface="Segoe UI"/>
              </a:rPr>
              <a:t> dashboard adalah titik awal navigasi seluruh modul.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1828800"/>
            <a:ext cx="4846320" cy="38404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0" y="205740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C8102E"/>
                </a:solidFill>
                <a:latin typeface="Segoe UI"/>
              </a:rPr>
              <a:t>Di dalamnya terdapat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560320"/>
            <a:ext cx="4114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450" b="0">
                <a:solidFill>
                  <a:srgbClr val="1F2937"/>
                </a:solidFill>
                <a:latin typeface="Segoe UI"/>
              </a:rPr>
              <a:t>▪  Statistik per status dokumen.</a:t>
            </a:r>
          </a:p>
          <a:p>
            <a:pPr algn="l">
              <a:spcAft>
                <a:spcPts val="900"/>
              </a:spcAft>
            </a:pPr>
            <a:r>
              <a:rPr sz="1450" b="0">
                <a:solidFill>
                  <a:srgbClr val="1F2937"/>
                </a:solidFill>
                <a:latin typeface="Segoe UI"/>
              </a:rPr>
              <a:t>▪  Daftar dokumen terbaru (link langsung ke detail).</a:t>
            </a:r>
          </a:p>
          <a:p>
            <a:pPr algn="l">
              <a:spcAft>
                <a:spcPts val="900"/>
              </a:spcAft>
            </a:pPr>
            <a:r>
              <a:rPr sz="1450" b="0">
                <a:solidFill>
                  <a:srgbClr val="1F2937"/>
                </a:solidFill>
                <a:latin typeface="Segoe UI"/>
              </a:rPr>
              <a:t>▪  Aktivitas terbaru dari audit log.</a:t>
            </a:r>
          </a:p>
          <a:p>
            <a:pPr algn="l">
              <a:spcAft>
                <a:spcPts val="900"/>
              </a:spcAft>
            </a:pPr>
            <a:r>
              <a:rPr sz="1450" b="0">
                <a:solidFill>
                  <a:srgbClr val="1F2937"/>
                </a:solidFill>
                <a:latin typeface="Segoe UI"/>
              </a:rPr>
              <a:t>▪  Dokumen favorit pengguna.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33500"/>
            <a:ext cx="12191695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C8102E"/>
                </a:solidFill>
                <a:latin typeface="Segoe UI"/>
              </a:rPr>
              <a:t>MODUL DOKUMEN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Segoe UI Light"/>
              </a:rPr>
              <a:t>Daftar Dokumen, Pencarian &amp; Filter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228600"/>
            <a:ext cx="1005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>
                <a:solidFill>
                  <a:srgbClr val="6B7280"/>
                </a:solidFill>
                <a:latin typeface="Segoe U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5852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</a:pPr>
            <a:r>
              <a:rPr sz="1650" b="1">
                <a:solidFill>
                  <a:srgbClr val="C9A227"/>
                </a:solidFill>
                <a:latin typeface="Segoe UI"/>
              </a:rPr>
              <a:t>▪  </a:t>
            </a:r>
            <a:r>
              <a:rPr sz="1650" b="1">
                <a:solidFill>
                  <a:srgbClr val="1F2937"/>
                </a:solidFill>
                <a:latin typeface="Segoe UI"/>
              </a:rPr>
              <a:t>Menu “Semua Dokumen” menampilkan daftar lengkap.</a:t>
            </a:r>
          </a:p>
          <a:p>
            <a:pPr algn="l">
              <a:spcAft>
                <a:spcPts val="1100"/>
              </a:spcAft>
            </a:pPr>
            <a:r>
              <a:rPr sz="1650" b="1">
                <a:solidFill>
                  <a:srgbClr val="C9A227"/>
                </a:solidFill>
                <a:latin typeface="Segoe UI"/>
              </a:rPr>
              <a:t>▪  </a:t>
            </a:r>
            <a:r>
              <a:rPr sz="1650" b="1">
                <a:solidFill>
                  <a:srgbClr val="1F2937"/>
                </a:solidFill>
                <a:latin typeface="Segoe UI"/>
              </a:rPr>
              <a:t>Pencarian global di topbar langsung menuju halaman dokumen.</a:t>
            </a:r>
          </a:p>
          <a:p>
            <a:pPr algn="l">
              <a:spcAft>
                <a:spcPts val="1100"/>
              </a:spcAft>
            </a:pPr>
            <a:r>
              <a:rPr sz="1650" b="1">
                <a:solidFill>
                  <a:srgbClr val="C9A227"/>
                </a:solidFill>
                <a:latin typeface="Segoe UI"/>
              </a:rPr>
              <a:t>▪  </a:t>
            </a:r>
            <a:r>
              <a:rPr sz="1650" b="1">
                <a:solidFill>
                  <a:srgbClr val="1F2937"/>
                </a:solidFill>
                <a:latin typeface="Segoe UI"/>
              </a:rPr>
              <a:t>Filter kombinasi:</a:t>
            </a:r>
            <a:r>
              <a:rPr sz="1650" b="0">
                <a:solidFill>
                  <a:srgbClr val="6B7280"/>
                </a:solidFill>
                <a:latin typeface="Segoe UI"/>
              </a:rPr>
              <a:t> tahun, kategori, jenis, tahapan, status, akses, rentang tanggal.</a:t>
            </a:r>
          </a:p>
          <a:p>
            <a:pPr algn="l">
              <a:spcAft>
                <a:spcPts val="1100"/>
              </a:spcAft>
            </a:pPr>
            <a:r>
              <a:rPr sz="1650" b="1">
                <a:solidFill>
                  <a:srgbClr val="C9A227"/>
                </a:solidFill>
                <a:latin typeface="Segoe UI"/>
              </a:rPr>
              <a:t>▪  </a:t>
            </a:r>
            <a:r>
              <a:rPr sz="1650" b="1">
                <a:solidFill>
                  <a:srgbClr val="1F2937"/>
                </a:solidFill>
                <a:latin typeface="Segoe UI"/>
              </a:rPr>
              <a:t>Urutkan (sortir) dan pilih jumlah per halaman (15/25/50/100).</a:t>
            </a:r>
          </a:p>
          <a:p>
            <a:pPr algn="l">
              <a:spcAft>
                <a:spcPts val="1100"/>
              </a:spcAft>
            </a:pPr>
            <a:r>
              <a:rPr sz="1650" b="1">
                <a:solidFill>
                  <a:srgbClr val="C9A227"/>
                </a:solidFill>
                <a:latin typeface="Segoe UI"/>
              </a:rPr>
              <a:t>▪  </a:t>
            </a:r>
            <a:r>
              <a:rPr sz="1650" b="1">
                <a:solidFill>
                  <a:srgbClr val="1F2937"/>
                </a:solidFill>
                <a:latin typeface="Segoe UI"/>
              </a:rPr>
              <a:t>Tombol “Ekspor CSV” untuk mengunduh hasil filter.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1828800"/>
            <a:ext cx="4846320" cy="38404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0" y="205740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C8102E"/>
                </a:solidFill>
                <a:latin typeface="Segoe UI"/>
              </a:rPr>
              <a:t>Status dokumen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560320"/>
            <a:ext cx="4114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1F2937"/>
                </a:solidFill>
                <a:latin typeface="Segoe UI"/>
              </a:rPr>
              <a:t>▪  Draft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1F2937"/>
                </a:solidFill>
                <a:latin typeface="Segoe UI"/>
              </a:rPr>
              <a:t>▪  Aktif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1F2937"/>
                </a:solidFill>
                <a:latin typeface="Segoe UI"/>
              </a:rPr>
              <a:t>▪  Diubah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1F2937"/>
                </a:solidFill>
                <a:latin typeface="Segoe UI"/>
              </a:rPr>
              <a:t>▪  Tidak Berlaku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1F2937"/>
                </a:solidFill>
                <a:latin typeface="Segoe UI"/>
              </a:rPr>
              <a:t>▪  Diarsipkan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1F2937"/>
                </a:solidFill>
                <a:latin typeface="Segoe UI"/>
              </a:rPr>
              <a:t>▪  Akses: Internal / Terbatas / Publik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33500"/>
            <a:ext cx="12191695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C8102E"/>
                </a:solidFill>
                <a:latin typeface="Segoe UI"/>
              </a:rPr>
              <a:t>MODUL DOKUMEN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Segoe UI Light"/>
              </a:rPr>
              <a:t>Tambah / Unggah Dokumen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228600"/>
            <a:ext cx="1005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>
                <a:solidFill>
                  <a:srgbClr val="6B7280"/>
                </a:solidFill>
                <a:latin typeface="Segoe U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</a:pPr>
            <a:r>
              <a:rPr sz="1650" b="1">
                <a:solidFill>
                  <a:srgbClr val="C9A227"/>
                </a:solidFill>
                <a:latin typeface="Segoe UI"/>
              </a:rPr>
              <a:t>▪  </a:t>
            </a:r>
            <a:r>
              <a:rPr sz="1650" b="1">
                <a:solidFill>
                  <a:srgbClr val="1F2937"/>
                </a:solidFill>
                <a:latin typeface="Segoe UI"/>
              </a:rPr>
              <a:t>Klik tombol “Tambah Dokumen” pada halaman daftar.</a:t>
            </a:r>
          </a:p>
          <a:p>
            <a:pPr algn="l">
              <a:spcAft>
                <a:spcPts val="1100"/>
              </a:spcAft>
            </a:pPr>
            <a:r>
              <a:rPr sz="1650" b="1">
                <a:solidFill>
                  <a:srgbClr val="C9A227"/>
                </a:solidFill>
                <a:latin typeface="Segoe UI"/>
              </a:rPr>
              <a:t>▪  </a:t>
            </a:r>
            <a:r>
              <a:rPr sz="1650" b="1">
                <a:solidFill>
                  <a:srgbClr val="1F2937"/>
                </a:solidFill>
                <a:latin typeface="Segoe UI"/>
              </a:rPr>
              <a:t>Isi metadata:</a:t>
            </a:r>
            <a:r>
              <a:rPr sz="1650" b="0">
                <a:solidFill>
                  <a:srgbClr val="6B7280"/>
                </a:solidFill>
                <a:latin typeface="Segoe UI"/>
              </a:rPr>
              <a:t> Judul*, Tahun*, Jenis Dokumen*, Kategori*, Status* dan Access Level*.</a:t>
            </a:r>
          </a:p>
          <a:p>
            <a:pPr algn="l">
              <a:spcAft>
                <a:spcPts val="1100"/>
              </a:spcAft>
            </a:pPr>
            <a:r>
              <a:rPr sz="1650" b="1">
                <a:solidFill>
                  <a:srgbClr val="C9A227"/>
                </a:solidFill>
                <a:latin typeface="Segoe UI"/>
              </a:rPr>
              <a:t>▪  </a:t>
            </a:r>
            <a:r>
              <a:rPr sz="1650" b="1">
                <a:solidFill>
                  <a:srgbClr val="1F2937"/>
                </a:solidFill>
                <a:latin typeface="Segoe UI"/>
              </a:rPr>
              <a:t>Lengkapi opsional:</a:t>
            </a:r>
            <a:r>
              <a:rPr sz="1650" b="0">
                <a:solidFill>
                  <a:srgbClr val="6B7280"/>
                </a:solidFill>
                <a:latin typeface="Segoe UI"/>
              </a:rPr>
              <a:t> Nomor Dokumen, Tanggal, Tahapan, Deskripsi, Kata Kunci.</a:t>
            </a:r>
          </a:p>
          <a:p>
            <a:pPr algn="l">
              <a:spcAft>
                <a:spcPts val="1100"/>
              </a:spcAft>
            </a:pPr>
            <a:r>
              <a:rPr sz="1650" b="1">
                <a:solidFill>
                  <a:srgbClr val="C9A227"/>
                </a:solidFill>
                <a:latin typeface="Segoe UI"/>
              </a:rPr>
              <a:t>▪  </a:t>
            </a:r>
            <a:r>
              <a:rPr sz="1650" b="1">
                <a:solidFill>
                  <a:srgbClr val="1F2937"/>
                </a:solidFill>
                <a:latin typeface="Segoe UI"/>
              </a:rPr>
              <a:t>Unggah file PDF (– default maks 20 MB</a:t>
            </a:r>
          </a:p>
          <a:p>
            <a:pPr algn="l">
              <a:spcAft>
                <a:spcPts val="1100"/>
              </a:spcAft>
            </a:pPr>
            <a:r>
              <a:rPr sz="1650" b="1">
                <a:solidFill>
                  <a:srgbClr val="C9A227"/>
                </a:solidFill>
                <a:latin typeface="Segoe UI"/>
              </a:rPr>
              <a:t>▪  </a:t>
            </a:r>
            <a:r>
              <a:rPr sz="1650" b="1">
                <a:solidFill>
                  <a:srgbClr val="1F2937"/>
                </a:solidFill>
                <a:latin typeface="Segoe UI"/>
              </a:rPr>
              <a:t>Saat disimpan:</a:t>
            </a:r>
            <a:r>
              <a:rPr sz="1650" b="0">
                <a:solidFill>
                  <a:srgbClr val="6B7280"/>
                </a:solidFill>
                <a:latin typeface="Segoe UI"/>
              </a:rPr>
              <a:t> versi awal v1 dibuat otomatis + tercatat audit log.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1828800"/>
            <a:ext cx="4846320" cy="38404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0" y="205740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C8102E"/>
                </a:solidFill>
                <a:latin typeface="Segoe UI"/>
              </a:rPr>
              <a:t>Catatan unggah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560320"/>
            <a:ext cx="4114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450" b="0">
                <a:solidFill>
                  <a:srgbClr val="1F2937"/>
                </a:solidFill>
                <a:latin typeface="Segoe UI"/>
              </a:rPr>
              <a:t>▪  Hanya file PDF yang diterima.</a:t>
            </a:r>
          </a:p>
          <a:p>
            <a:pPr algn="l">
              <a:spcAft>
                <a:spcPts val="900"/>
              </a:spcAft>
            </a:pPr>
            <a:r>
              <a:rPr sz="1450" b="0">
                <a:solidFill>
                  <a:srgbClr val="1F2937"/>
                </a:solidFill>
                <a:latin typeface="Segoe UI"/>
              </a:rPr>
              <a:t>▪  File disimpan privat (bukan tautan publik).</a:t>
            </a:r>
          </a:p>
          <a:p>
            <a:pPr algn="l">
              <a:spcAft>
                <a:spcPts val="900"/>
              </a:spcAft>
            </a:pPr>
            <a:r>
              <a:rPr sz="1450" b="0">
                <a:solidFill>
                  <a:srgbClr val="1F2937"/>
                </a:solidFill>
                <a:latin typeface="Segoe UI"/>
              </a:rPr>
              <a:t>▪  Wajib memiliki permission create_documents.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33500"/>
            <a:ext cx="12191695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C8102E"/>
                </a:solidFill>
                <a:latin typeface="Segoe UI"/>
              </a:rPr>
              <a:t>MODUL DOKUMEN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Segoe UI Light"/>
              </a:rPr>
              <a:t>Detail, Pratinjau &amp; Unduh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228600"/>
            <a:ext cx="1005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>
                <a:solidFill>
                  <a:srgbClr val="6B7280"/>
                </a:solidFill>
                <a:latin typeface="Segoe U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5852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</a:pPr>
            <a:r>
              <a:rPr sz="1650" b="1">
                <a:solidFill>
                  <a:srgbClr val="C9A227"/>
                </a:solidFill>
                <a:latin typeface="Segoe UI"/>
              </a:rPr>
              <a:t>▪  </a:t>
            </a:r>
            <a:r>
              <a:rPr sz="1650" b="1">
                <a:solidFill>
                  <a:srgbClr val="1F2937"/>
                </a:solidFill>
                <a:latin typeface="Segoe UI"/>
              </a:rPr>
              <a:t>Buka detail suatu dokumen dari daftar / kartu.</a:t>
            </a:r>
          </a:p>
          <a:p>
            <a:pPr algn="l">
              <a:spcAft>
                <a:spcPts val="1100"/>
              </a:spcAft>
            </a:pPr>
            <a:r>
              <a:rPr sz="1650" b="1">
                <a:solidFill>
                  <a:srgbClr val="C9A227"/>
                </a:solidFill>
                <a:latin typeface="Segoe UI"/>
              </a:rPr>
              <a:t>▪  </a:t>
            </a:r>
            <a:r>
              <a:rPr sz="1650" b="1">
                <a:solidFill>
                  <a:srgbClr val="1F2937"/>
                </a:solidFill>
                <a:latin typeface="Segoe UI"/>
              </a:rPr>
              <a:t>Tombol “Pratinjau” membuka PDF di tab baru (tanpa mengunduh).</a:t>
            </a:r>
          </a:p>
          <a:p>
            <a:pPr algn="l">
              <a:spcAft>
                <a:spcPts val="1100"/>
              </a:spcAft>
            </a:pPr>
            <a:r>
              <a:rPr sz="1650" b="1">
                <a:solidFill>
                  <a:srgbClr val="C9A227"/>
                </a:solidFill>
                <a:latin typeface="Segoe UI"/>
              </a:rPr>
              <a:t>▪  </a:t>
            </a:r>
            <a:r>
              <a:rPr sz="1650" b="1">
                <a:solidFill>
                  <a:srgbClr val="1F2937"/>
                </a:solidFill>
                <a:latin typeface="Segoe UI"/>
              </a:rPr>
              <a:t>Tombol “Unduh” mengunduh file PDF resmi terverifikasi.</a:t>
            </a:r>
          </a:p>
          <a:p>
            <a:pPr algn="l">
              <a:spcAft>
                <a:spcPts val="1100"/>
              </a:spcAft>
            </a:pPr>
            <a:r>
              <a:rPr sz="1650" b="1">
                <a:solidFill>
                  <a:srgbClr val="C9A227"/>
                </a:solidFill>
                <a:latin typeface="Segoe UI"/>
              </a:rPr>
              <a:t>▪  </a:t>
            </a:r>
            <a:r>
              <a:rPr sz="1650" b="1">
                <a:solidFill>
                  <a:srgbClr val="1F2937"/>
                </a:solidFill>
                <a:latin typeface="Segoe UI"/>
              </a:rPr>
              <a:t>Klik bintang untuk menandai sebagai favorit.</a:t>
            </a:r>
          </a:p>
          <a:p>
            <a:pPr algn="l">
              <a:spcAft>
                <a:spcPts val="1100"/>
              </a:spcAft>
            </a:pPr>
            <a:r>
              <a:rPr sz="1650" b="1">
                <a:solidFill>
                  <a:srgbClr val="C9A227"/>
                </a:solidFill>
                <a:latin typeface="Segoe UI"/>
              </a:rPr>
              <a:t>▪  </a:t>
            </a:r>
            <a:r>
              <a:rPr sz="1650" b="1">
                <a:solidFill>
                  <a:srgbClr val="1F2937"/>
                </a:solidFill>
                <a:latin typeface="Segoe UI"/>
              </a:rPr>
              <a:t>Dari detail:</a:t>
            </a:r>
            <a:r>
              <a:rPr sz="1650" b="0">
                <a:solidFill>
                  <a:srgbClr val="6B7280"/>
                </a:solidFill>
                <a:latin typeface="Segoe UI"/>
              </a:rPr>
              <a:t> edit metadata, unggah versi, atau arsipkan.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1828800"/>
            <a:ext cx="4846320" cy="38404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0" y="205740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C8102E"/>
                </a:solidFill>
                <a:latin typeface="Segoe UI"/>
              </a:rPr>
              <a:t>Perlu diperhatikan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560320"/>
            <a:ext cx="4114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450" b="0">
                <a:solidFill>
                  <a:srgbClr val="1F2937"/>
                </a:solidFill>
                <a:latin typeface="Segoe UI"/>
              </a:rPr>
              <a:t>▪  Pratinjau/unduh butuh permission download/preview.</a:t>
            </a:r>
          </a:p>
          <a:p>
            <a:pPr algn="l">
              <a:spcAft>
                <a:spcPts val="900"/>
              </a:spcAft>
            </a:pPr>
            <a:r>
              <a:rPr sz="1450" b="0">
                <a:solidFill>
                  <a:srgbClr val="1F2937"/>
                </a:solidFill>
                <a:latin typeface="Segoe UI"/>
              </a:rPr>
              <a:t>▪  File yang tidak ditemukan menampilkan halaman 404.</a:t>
            </a:r>
          </a:p>
          <a:p>
            <a:pPr algn="l">
              <a:spcAft>
                <a:spcPts val="900"/>
              </a:spcAft>
            </a:pPr>
            <a:r>
              <a:rPr sz="1450" b="0">
                <a:solidFill>
                  <a:srgbClr val="1F2937"/>
                </a:solidFill>
                <a:latin typeface="Segoe UI"/>
              </a:rPr>
              <a:t>▪  Setiap versi memiliki tombol unduhnya sendiri.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33500"/>
            <a:ext cx="12191695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C8102E"/>
                </a:solidFill>
                <a:latin typeface="Segoe UI"/>
              </a:rPr>
              <a:t>MODUL DOKUMEN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Segoe UI Light"/>
              </a:rPr>
              <a:t>Versioning &amp; Arsip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228600"/>
            <a:ext cx="1005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>
                <a:solidFill>
                  <a:srgbClr val="6B7280"/>
                </a:solidFill>
                <a:latin typeface="Segoe U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5852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C9A227"/>
                </a:solidFill>
                <a:latin typeface="Segoe UI"/>
              </a:rPr>
              <a:t>▪  </a:t>
            </a:r>
            <a:r>
              <a:rPr sz="1600" b="1">
                <a:solidFill>
                  <a:srgbClr val="1F2937"/>
                </a:solidFill>
                <a:latin typeface="Segoe UI"/>
              </a:rPr>
              <a:t>Setiap dokumen memiliki riwayat versi (v1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C9A227"/>
                </a:solidFill>
                <a:latin typeface="Segoe UI"/>
              </a:rPr>
              <a:t>▪  </a:t>
            </a:r>
            <a:r>
              <a:rPr sz="1600" b="1">
                <a:solidFill>
                  <a:srgbClr val="1F2937"/>
                </a:solidFill>
                <a:latin typeface="Segoe UI"/>
              </a:rPr>
              <a:t>Unggah versi baru lengkap dengan catatan perubahan.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C9A227"/>
                </a:solidFill>
                <a:latin typeface="Segoe UI"/>
              </a:rPr>
              <a:t>▪  </a:t>
            </a:r>
            <a:r>
              <a:rPr sz="1600" b="1">
                <a:solidFill>
                  <a:srgbClr val="1F2937"/>
                </a:solidFill>
                <a:latin typeface="Segoe UI"/>
              </a:rPr>
              <a:t>Versi awal (v1) dilindungi — tidak dapat dihapus.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C9A227"/>
                </a:solidFill>
                <a:latin typeface="Segoe UI"/>
              </a:rPr>
              <a:t>▪  </a:t>
            </a:r>
            <a:r>
              <a:rPr sz="1600" b="1">
                <a:solidFill>
                  <a:srgbClr val="1F2937"/>
                </a:solidFill>
                <a:latin typeface="Segoe UI"/>
              </a:rPr>
              <a:t>Versi tertentu dapat diunduh / dihapus sesuai hak.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C9A227"/>
                </a:solidFill>
                <a:latin typeface="Segoe UI"/>
              </a:rPr>
              <a:t>▪  </a:t>
            </a:r>
            <a:r>
              <a:rPr sz="1600" b="1">
                <a:solidFill>
                  <a:srgbClr val="1F2937"/>
                </a:solidFill>
                <a:latin typeface="Segoe UI"/>
              </a:rPr>
              <a:t>Arsipkan dokumen:</a:t>
            </a:r>
            <a:r>
              <a:rPr sz="1600" b="0">
                <a:solidFill>
                  <a:srgbClr val="6B7280"/>
                </a:solidFill>
                <a:latin typeface="Segoe UI"/>
              </a:rPr>
              <a:t> soft delete (tetap bisa dipulihkan).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C9A227"/>
                </a:solidFill>
                <a:latin typeface="Segoe UI"/>
              </a:rPr>
              <a:t>▪  </a:t>
            </a:r>
            <a:r>
              <a:rPr sz="1600" b="1">
                <a:solidFill>
                  <a:srgbClr val="1F2937"/>
                </a:solidFill>
                <a:latin typeface="Segoe UI"/>
              </a:rPr>
              <a:t>Halaman “Arsip” menyimpan dokumen yang diarsipkan; tombol pulihkan tersedia.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1828800"/>
            <a:ext cx="4846320" cy="38404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0" y="205740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C8102E"/>
                </a:solidFill>
                <a:latin typeface="Segoe UI"/>
              </a:rPr>
              <a:t>Dokumen Terbaru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560320"/>
            <a:ext cx="41148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1F2937"/>
                </a:solidFill>
                <a:latin typeface="Segoe UI"/>
              </a:rPr>
              <a:t>Halaman khusus menampilkan dokumen yang paling baru ditambahkan, memudahkan memantau pengarsipan terkini.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33500"/>
            <a:ext cx="12191695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C8102E"/>
                </a:solidFill>
                <a:latin typeface="Segoe UI"/>
              </a:rPr>
              <a:t>REFERENSI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Segoe UI Light"/>
              </a:rPr>
              <a:t>Kategori, Tahapan &amp; Jenis Dokumen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228600"/>
            <a:ext cx="1005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>
                <a:solidFill>
                  <a:srgbClr val="6B7280"/>
                </a:solidFill>
                <a:latin typeface="Segoe U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5852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</a:pPr>
            <a:r>
              <a:rPr sz="1650" b="1">
                <a:solidFill>
                  <a:srgbClr val="C9A227"/>
                </a:solidFill>
                <a:latin typeface="Segoe UI"/>
              </a:rPr>
              <a:t>▪  </a:t>
            </a:r>
            <a:r>
              <a:rPr sz="1650" b="1">
                <a:solidFill>
                  <a:srgbClr val="1F2937"/>
                </a:solidFill>
                <a:latin typeface="Segoe UI"/>
              </a:rPr>
              <a:t>Kategori:</a:t>
            </a:r>
            <a:r>
              <a:rPr sz="1650" b="0">
                <a:solidFill>
                  <a:srgbClr val="6B7280"/>
                </a:solidFill>
                <a:latin typeface="Segoe UI"/>
              </a:rPr>
              <a:t> pengelompokan dokumen (mis. jenis kegiatan).</a:t>
            </a:r>
          </a:p>
          <a:p>
            <a:pPr algn="l">
              <a:spcAft>
                <a:spcPts val="1100"/>
              </a:spcAft>
            </a:pPr>
            <a:r>
              <a:rPr sz="1650" b="1">
                <a:solidFill>
                  <a:srgbClr val="C9A227"/>
                </a:solidFill>
                <a:latin typeface="Segoe UI"/>
              </a:rPr>
              <a:t>▪  </a:t>
            </a:r>
            <a:r>
              <a:rPr sz="1650" b="1">
                <a:solidFill>
                  <a:srgbClr val="1F2937"/>
                </a:solidFill>
                <a:latin typeface="Segoe UI"/>
              </a:rPr>
              <a:t>Tahapan:</a:t>
            </a:r>
            <a:r>
              <a:rPr sz="1650" b="0">
                <a:solidFill>
                  <a:srgbClr val="6B7280"/>
                </a:solidFill>
                <a:latin typeface="Segoe UI"/>
              </a:rPr>
              <a:t> terkait tahapan pemilu/pemilihan &amp; dikelompokkan per jenis pemilihan.</a:t>
            </a:r>
          </a:p>
          <a:p>
            <a:pPr algn="l">
              <a:spcAft>
                <a:spcPts val="1100"/>
              </a:spcAft>
            </a:pPr>
            <a:r>
              <a:rPr sz="1650" b="1">
                <a:solidFill>
                  <a:srgbClr val="C9A227"/>
                </a:solidFill>
                <a:latin typeface="Segoe UI"/>
              </a:rPr>
              <a:t>▪  </a:t>
            </a:r>
            <a:r>
              <a:rPr sz="1650" b="1">
                <a:solidFill>
                  <a:srgbClr val="1F2937"/>
                </a:solidFill>
                <a:latin typeface="Segoe UI"/>
              </a:rPr>
              <a:t>Jenis Dokumen:</a:t>
            </a:r>
            <a:r>
              <a:rPr sz="1650" b="0">
                <a:solidFill>
                  <a:srgbClr val="6B7280"/>
                </a:solidFill>
                <a:latin typeface="Segoe UI"/>
              </a:rPr>
              <a:t> berita acara, surat, laporan, dst.</a:t>
            </a:r>
          </a:p>
          <a:p>
            <a:pPr algn="l">
              <a:spcAft>
                <a:spcPts val="1100"/>
              </a:spcAft>
            </a:pPr>
            <a:r>
              <a:rPr sz="1650" b="1">
                <a:solidFill>
                  <a:srgbClr val="C9A227"/>
                </a:solidFill>
                <a:latin typeface="Segoe UI"/>
              </a:rPr>
              <a:t>▪  </a:t>
            </a:r>
            <a:r>
              <a:rPr sz="1650" b="1">
                <a:solidFill>
                  <a:srgbClr val="1F2937"/>
                </a:solidFill>
                <a:latin typeface="Segoe UI"/>
              </a:rPr>
              <a:t>Master data dielola via menu referensi pada sidebar.</a:t>
            </a:r>
          </a:p>
          <a:p>
            <a:pPr algn="l">
              <a:spcAft>
                <a:spcPts val="1100"/>
              </a:spcAft>
            </a:pPr>
            <a:r>
              <a:rPr sz="1650" b="1">
                <a:solidFill>
                  <a:srgbClr val="C9A227"/>
                </a:solidFill>
                <a:latin typeface="Segoe UI"/>
              </a:rPr>
              <a:t>▪  </a:t>
            </a:r>
            <a:r>
              <a:rPr sz="1650" b="1">
                <a:solidFill>
                  <a:srgbClr val="1F2937"/>
                </a:solidFill>
                <a:latin typeface="Segoe UI"/>
              </a:rPr>
              <a:t>Kategori yang masih dipakai dokumen tidak dapat dihapus.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1828800"/>
            <a:ext cx="4846320" cy="38404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0" y="205740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C8102E"/>
                </a:solidFill>
                <a:latin typeface="Segoe UI"/>
              </a:rPr>
              <a:t>Hak akses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560320"/>
            <a:ext cx="4114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450" b="0">
                <a:solidFill>
                  <a:srgbClr val="1F2937"/>
                </a:solidFill>
                <a:latin typeface="Segoe UI"/>
              </a:rPr>
              <a:t>▪  manage_categories</a:t>
            </a:r>
          </a:p>
          <a:p>
            <a:pPr algn="l">
              <a:spcAft>
                <a:spcPts val="900"/>
              </a:spcAft>
            </a:pPr>
            <a:r>
              <a:rPr sz="1450" b="0">
                <a:solidFill>
                  <a:srgbClr val="1F2937"/>
                </a:solidFill>
                <a:latin typeface="Segoe UI"/>
              </a:rPr>
              <a:t>▪  manage_stages</a:t>
            </a:r>
          </a:p>
          <a:p>
            <a:pPr algn="l">
              <a:spcAft>
                <a:spcPts val="900"/>
              </a:spcAft>
            </a:pPr>
            <a:r>
              <a:rPr sz="1450" b="0">
                <a:solidFill>
                  <a:srgbClr val="1F2937"/>
                </a:solidFill>
                <a:latin typeface="Segoe UI"/>
              </a:rPr>
              <a:t>▪  manage_document_types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33500"/>
            <a:ext cx="12191695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C8102E"/>
                </a:solidFill>
                <a:latin typeface="Segoe UI"/>
              </a:rPr>
              <a:t>ADMINISTRASI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Segoe UI Light"/>
              </a:rPr>
              <a:t>Pengguna, Role &amp; Permission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228600"/>
            <a:ext cx="1005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>
                <a:solidFill>
                  <a:srgbClr val="6B7280"/>
                </a:solidFill>
                <a:latin typeface="Segoe U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5852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</a:pPr>
            <a:r>
              <a:rPr sz="1650" b="1">
                <a:solidFill>
                  <a:srgbClr val="C9A227"/>
                </a:solidFill>
                <a:latin typeface="Segoe UI"/>
              </a:rPr>
              <a:t>▪  </a:t>
            </a:r>
            <a:r>
              <a:rPr sz="1650" b="1">
                <a:solidFill>
                  <a:srgbClr val="1F2937"/>
                </a:solidFill>
                <a:latin typeface="Segoe UI"/>
              </a:rPr>
              <a:t>Menu Pengguna:</a:t>
            </a:r>
            <a:r>
              <a:rPr sz="1650" b="0">
                <a:solidFill>
                  <a:srgbClr val="6B7280"/>
                </a:solidFill>
                <a:latin typeface="Segoe UI"/>
              </a:rPr>
              <a:t> tambah, edit, aktif/nonaktifkan akun.</a:t>
            </a:r>
          </a:p>
          <a:p>
            <a:pPr algn="l">
              <a:spcAft>
                <a:spcPts val="1100"/>
              </a:spcAft>
            </a:pPr>
            <a:r>
              <a:rPr sz="1650" b="1">
                <a:solidFill>
                  <a:srgbClr val="C9A227"/>
                </a:solidFill>
                <a:latin typeface="Segoe UI"/>
              </a:rPr>
              <a:t>▪  </a:t>
            </a:r>
            <a:r>
              <a:rPr sz="1650" b="1">
                <a:solidFill>
                  <a:srgbClr val="1F2937"/>
                </a:solidFill>
                <a:latin typeface="Segoe UI"/>
              </a:rPr>
              <a:t>Daftar pengguna dapat dicari &amp; difilter berdasarkan role/status.</a:t>
            </a:r>
          </a:p>
          <a:p>
            <a:pPr algn="l">
              <a:spcAft>
                <a:spcPts val="1100"/>
              </a:spcAft>
            </a:pPr>
            <a:r>
              <a:rPr sz="1650" b="1">
                <a:solidFill>
                  <a:srgbClr val="C9A227"/>
                </a:solidFill>
                <a:latin typeface="Segoe UI"/>
              </a:rPr>
              <a:t>▪  </a:t>
            </a:r>
            <a:r>
              <a:rPr sz="1650" b="1">
                <a:solidFill>
                  <a:srgbClr val="1F2937"/>
                </a:solidFill>
                <a:latin typeface="Segoe UI"/>
              </a:rPr>
              <a:t>Menu Role &amp; Permission:</a:t>
            </a:r>
            <a:r>
              <a:rPr sz="1650" b="0">
                <a:solidFill>
                  <a:srgbClr val="6B7280"/>
                </a:solidFill>
                <a:latin typeface="Segoe UI"/>
              </a:rPr>
              <a:t> kelola role + centang hak per grup.</a:t>
            </a:r>
          </a:p>
          <a:p>
            <a:pPr algn="l">
              <a:spcAft>
                <a:spcPts val="1100"/>
              </a:spcAft>
            </a:pPr>
            <a:r>
              <a:rPr sz="1650" b="1">
                <a:solidFill>
                  <a:srgbClr val="C9A227"/>
                </a:solidFill>
                <a:latin typeface="Segoe UI"/>
              </a:rPr>
              <a:t>▪  </a:t>
            </a:r>
            <a:r>
              <a:rPr sz="1650" b="1">
                <a:solidFill>
                  <a:srgbClr val="1F2937"/>
                </a:solidFill>
                <a:latin typeface="Segoe UI"/>
              </a:rPr>
              <a:t>Proteksi:</a:t>
            </a:r>
            <a:r>
              <a:rPr sz="1650" b="0">
                <a:solidFill>
                  <a:srgbClr val="6B7280"/>
                </a:solidFill>
                <a:latin typeface="Segoe UI"/>
              </a:rPr>
              <a:t> admin tidak dapat menonaktifkan diri sendiri / SUPER ADMIN.</a:t>
            </a:r>
          </a:p>
          <a:p>
            <a:pPr algn="l">
              <a:spcAft>
                <a:spcPts val="1100"/>
              </a:spcAft>
            </a:pPr>
            <a:r>
              <a:rPr sz="1650" b="1">
                <a:solidFill>
                  <a:srgbClr val="C9A227"/>
                </a:solidFill>
                <a:latin typeface="Segoe UI"/>
              </a:rPr>
              <a:t>▪  </a:t>
            </a:r>
            <a:r>
              <a:rPr sz="1650" b="1">
                <a:solidFill>
                  <a:srgbClr val="1F2937"/>
                </a:solidFill>
                <a:latin typeface="Segoe UI"/>
              </a:rPr>
              <a:t>Role sistem tidak dapat dihapus; role terpakai ikut dicegah.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1828800"/>
            <a:ext cx="4846320" cy="38404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0" y="205740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C8102E"/>
                </a:solidFill>
                <a:latin typeface="Segoe UI"/>
              </a:rPr>
              <a:t>Perlu permission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560320"/>
            <a:ext cx="4114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450" b="0">
                <a:solidFill>
                  <a:srgbClr val="1F2937"/>
                </a:solidFill>
                <a:latin typeface="Segoe UI"/>
              </a:rPr>
              <a:t>▪  view_users / create_users</a:t>
            </a:r>
          </a:p>
          <a:p>
            <a:pPr algn="l">
              <a:spcAft>
                <a:spcPts val="900"/>
              </a:spcAft>
            </a:pPr>
            <a:r>
              <a:rPr sz="1450" b="0">
                <a:solidFill>
                  <a:srgbClr val="1F2937"/>
                </a:solidFill>
                <a:latin typeface="Segoe UI"/>
              </a:rPr>
              <a:t>▪  edit_users / deactivate_users</a:t>
            </a:r>
          </a:p>
          <a:p>
            <a:pPr algn="l">
              <a:spcAft>
                <a:spcPts val="900"/>
              </a:spcAft>
            </a:pPr>
            <a:r>
              <a:rPr sz="1450" b="0">
                <a:solidFill>
                  <a:srgbClr val="1F2937"/>
                </a:solidFill>
                <a:latin typeface="Segoe UI"/>
              </a:rPr>
              <a:t>▪  manage_roles (role &amp; permission)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33500"/>
            <a:ext cx="12191695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C8102E"/>
                </a:solidFill>
                <a:latin typeface="Segoe UI"/>
              </a:rPr>
              <a:t>PENDUKUNG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Segoe UI Light"/>
              </a:rPr>
              <a:t>Aktivitas (Audit Log) &amp; Notifikasi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228600"/>
            <a:ext cx="1005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>
                <a:solidFill>
                  <a:srgbClr val="6B7280"/>
                </a:solidFill>
                <a:latin typeface="Segoe U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5852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</a:pPr>
            <a:r>
              <a:rPr sz="1650" b="1">
                <a:solidFill>
                  <a:srgbClr val="C9A227"/>
                </a:solidFill>
                <a:latin typeface="Segoe UI"/>
              </a:rPr>
              <a:t>▪  </a:t>
            </a:r>
            <a:r>
              <a:rPr sz="1650" b="1">
                <a:solidFill>
                  <a:srgbClr val="1F2937"/>
                </a:solidFill>
                <a:latin typeface="Segoe UI"/>
              </a:rPr>
              <a:t>Aktivitas:</a:t>
            </a:r>
            <a:r>
              <a:rPr sz="1650" b="0">
                <a:solidFill>
                  <a:srgbClr val="6B7280"/>
                </a:solidFill>
                <a:latin typeface="Segoe UI"/>
              </a:rPr>
              <a:t> catatan lengkap aksi pengguna pada sistem.</a:t>
            </a:r>
          </a:p>
          <a:p>
            <a:pPr algn="l">
              <a:spcAft>
                <a:spcPts val="1100"/>
              </a:spcAft>
            </a:pPr>
            <a:r>
              <a:rPr sz="1650" b="1">
                <a:solidFill>
                  <a:srgbClr val="C9A227"/>
                </a:solidFill>
                <a:latin typeface="Segoe UI"/>
              </a:rPr>
              <a:t>▪  </a:t>
            </a:r>
            <a:r>
              <a:rPr sz="1650" b="1">
                <a:solidFill>
                  <a:srgbClr val="1F2937"/>
                </a:solidFill>
                <a:latin typeface="Segoe UI"/>
              </a:rPr>
              <a:t>Lihat riwayat dengan filter aksi/pengguna dan pencarian.</a:t>
            </a:r>
          </a:p>
          <a:p>
            <a:pPr algn="l">
              <a:spcAft>
                <a:spcPts val="1100"/>
              </a:spcAft>
            </a:pPr>
            <a:r>
              <a:rPr sz="1650" b="1">
                <a:solidFill>
                  <a:srgbClr val="C9A227"/>
                </a:solidFill>
                <a:latin typeface="Segoe UI"/>
              </a:rPr>
              <a:t>▪  </a:t>
            </a:r>
            <a:r>
              <a:rPr sz="1650" b="1">
                <a:solidFill>
                  <a:srgbClr val="1F2937"/>
                </a:solidFill>
                <a:latin typeface="Segoe UI"/>
              </a:rPr>
              <a:t>Notifikasi:</a:t>
            </a:r>
            <a:r>
              <a:rPr sz="1650" b="0">
                <a:solidFill>
                  <a:srgbClr val="6B7280"/>
                </a:solidFill>
                <a:latin typeface="Segoe UI"/>
              </a:rPr>
              <a:t> lonceng di topbar menampilkan pembaruan.</a:t>
            </a:r>
          </a:p>
          <a:p>
            <a:pPr algn="l">
              <a:spcAft>
                <a:spcPts val="1100"/>
              </a:spcAft>
            </a:pPr>
            <a:r>
              <a:rPr sz="1650" b="1">
                <a:solidFill>
                  <a:srgbClr val="C9A227"/>
                </a:solidFill>
                <a:latin typeface="Segoe UI"/>
              </a:rPr>
              <a:t>▪  </a:t>
            </a:r>
            <a:r>
              <a:rPr sz="1650" b="1">
                <a:solidFill>
                  <a:srgbClr val="1F2937"/>
                </a:solidFill>
                <a:latin typeface="Segoe UI"/>
              </a:rPr>
              <a:t>Tandai dibaca / semua dibaca; hapus bila tidak diperlukan.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1828800"/>
            <a:ext cx="4846320" cy="38404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0" y="205740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C8102E"/>
                </a:solidFill>
                <a:latin typeface="Segoe UI"/>
              </a:rPr>
              <a:t>Prinsip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560320"/>
            <a:ext cx="4114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450" b="0">
                <a:solidFill>
                  <a:srgbClr val="1F2937"/>
                </a:solidFill>
                <a:latin typeface="Segoe UI"/>
              </a:rPr>
              <a:t>▪  Transparansi &amp; akuntabilitas.</a:t>
            </a:r>
          </a:p>
          <a:p>
            <a:pPr algn="l">
              <a:spcAft>
                <a:spcPts val="900"/>
              </a:spcAft>
            </a:pPr>
            <a:r>
              <a:rPr sz="1450" b="0">
                <a:solidFill>
                  <a:srgbClr val="1F2937"/>
                </a:solidFill>
                <a:latin typeface="Segoe UI"/>
              </a:rPr>
              <a:t>▪  Tidak ada data sensitif di log.</a:t>
            </a:r>
          </a:p>
          <a:p>
            <a:pPr algn="l">
              <a:spcAft>
                <a:spcPts val="900"/>
              </a:spcAft>
            </a:pPr>
            <a:r>
              <a:rPr sz="1450" b="0">
                <a:solidFill>
                  <a:srgbClr val="1F2937"/>
                </a:solidFill>
                <a:latin typeface="Segoe UI"/>
              </a:rPr>
              <a:t>▪  Hak lihat: view_audit_logs.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33500"/>
            <a:ext cx="12191695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C8102E"/>
                </a:solidFill>
                <a:latin typeface="Segoe UI"/>
              </a:rPr>
              <a:t>ADMINISTRASI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Segoe UI Light"/>
              </a:rPr>
              <a:t>Pengaturan &amp; Backup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228600"/>
            <a:ext cx="1005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>
                <a:solidFill>
                  <a:srgbClr val="6B7280"/>
                </a:solidFill>
                <a:latin typeface="Segoe U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5852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</a:pPr>
            <a:r>
              <a:rPr sz="1650" b="1">
                <a:solidFill>
                  <a:srgbClr val="C9A227"/>
                </a:solidFill>
                <a:latin typeface="Segoe UI"/>
              </a:rPr>
              <a:t>▪  </a:t>
            </a:r>
            <a:r>
              <a:rPr sz="1650" b="1">
                <a:solidFill>
                  <a:srgbClr val="1F2937"/>
                </a:solidFill>
                <a:latin typeface="Segoe UI"/>
              </a:rPr>
              <a:t>Pengaturan:</a:t>
            </a:r>
            <a:r>
              <a:rPr sz="1650" b="0">
                <a:solidFill>
                  <a:srgbClr val="6B7280"/>
                </a:solidFill>
                <a:latin typeface="Segoe UI"/>
              </a:rPr>
              <a:t> identitas aplikasi/instansi, teks footer, ukuran maks upload.</a:t>
            </a:r>
          </a:p>
          <a:p>
            <a:pPr algn="l">
              <a:spcAft>
                <a:spcPts val="1100"/>
              </a:spcAft>
            </a:pPr>
            <a:r>
              <a:rPr sz="1650" b="1">
                <a:solidFill>
                  <a:srgbClr val="C9A227"/>
                </a:solidFill>
                <a:latin typeface="Segoe UI"/>
              </a:rPr>
              <a:t>▪  </a:t>
            </a:r>
            <a:r>
              <a:rPr sz="1650" b="1">
                <a:solidFill>
                  <a:srgbClr val="1F2937"/>
                </a:solidFill>
                <a:latin typeface="Segoe UI"/>
              </a:rPr>
              <a:t>Hanya pengguna dengan manage_settings (SUPER ADMIN).</a:t>
            </a:r>
          </a:p>
          <a:p>
            <a:pPr algn="l">
              <a:spcAft>
                <a:spcPts val="1100"/>
              </a:spcAft>
            </a:pPr>
            <a:r>
              <a:rPr sz="1650" b="1">
                <a:solidFill>
                  <a:srgbClr val="C9A227"/>
                </a:solidFill>
                <a:latin typeface="Segoe UI"/>
              </a:rPr>
              <a:t>▪  </a:t>
            </a:r>
            <a:r>
              <a:rPr sz="1650" b="1">
                <a:solidFill>
                  <a:srgbClr val="1F2937"/>
                </a:solidFill>
                <a:latin typeface="Segoe UI"/>
              </a:rPr>
              <a:t>Backup:</a:t>
            </a:r>
            <a:r>
              <a:rPr sz="1650" b="0">
                <a:solidFill>
                  <a:srgbClr val="6B7280"/>
                </a:solidFill>
                <a:latin typeface="Segoe UI"/>
              </a:rPr>
              <a:t> buat cadangan database maupun file dokumen.</a:t>
            </a:r>
          </a:p>
          <a:p>
            <a:pPr algn="l">
              <a:spcAft>
                <a:spcPts val="1100"/>
              </a:spcAft>
            </a:pPr>
            <a:r>
              <a:rPr sz="1650" b="1">
                <a:solidFill>
                  <a:srgbClr val="C9A227"/>
                </a:solidFill>
                <a:latin typeface="Segoe UI"/>
              </a:rPr>
              <a:t>▪  </a:t>
            </a:r>
            <a:r>
              <a:rPr sz="1650" b="1">
                <a:solidFill>
                  <a:srgbClr val="1F2937"/>
                </a:solidFill>
                <a:latin typeface="Segoe UI"/>
              </a:rPr>
              <a:t>Unduh atau hapus cadangan; jadwal otomatis dari konfigurasi.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1828800"/>
            <a:ext cx="4846320" cy="38404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0" y="205740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C8102E"/>
                </a:solidFill>
                <a:latin typeface="Segoe UI"/>
              </a:rPr>
              <a:t>Backup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560320"/>
            <a:ext cx="41148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1F2937"/>
                </a:solidFill>
                <a:latin typeface="Segoe UI"/>
              </a:rPr>
              <a:t>Rutin membuat cadangan mencegah kehilangan data penting dokumen resmi &amp; pengaturan aplikasi.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33500"/>
            <a:ext cx="12191695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C8102E"/>
                </a:solidFill>
                <a:latin typeface="Segoe UI"/>
              </a:rPr>
              <a:t>KEAMANAN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Segoe UI Light"/>
              </a:rPr>
              <a:t>Profil, Kata Sandi &amp; Etika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228600"/>
            <a:ext cx="1005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>
                <a:solidFill>
                  <a:srgbClr val="6B7280"/>
                </a:solidFill>
                <a:latin typeface="Segoe U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5852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</a:pPr>
            <a:r>
              <a:rPr sz="1650" b="1">
                <a:solidFill>
                  <a:srgbClr val="C9A227"/>
                </a:solidFill>
                <a:latin typeface="Segoe UI"/>
              </a:rPr>
              <a:t>▪  </a:t>
            </a:r>
            <a:r>
              <a:rPr sz="1650" b="1">
                <a:solidFill>
                  <a:srgbClr val="1F2937"/>
                </a:solidFill>
                <a:latin typeface="Segoe UI"/>
              </a:rPr>
              <a:t>Ubah profil &amp; kata sandi lewat menu nama akun (Profil).</a:t>
            </a:r>
          </a:p>
          <a:p>
            <a:pPr algn="l">
              <a:spcAft>
                <a:spcPts val="1100"/>
              </a:spcAft>
            </a:pPr>
            <a:r>
              <a:rPr sz="1650" b="1">
                <a:solidFill>
                  <a:srgbClr val="C9A227"/>
                </a:solidFill>
                <a:latin typeface="Segoe UI"/>
              </a:rPr>
              <a:t>▪  </a:t>
            </a:r>
            <a:r>
              <a:rPr sz="1650" b="1">
                <a:solidFill>
                  <a:srgbClr val="1F2937"/>
                </a:solidFill>
                <a:latin typeface="Segoe UI"/>
              </a:rPr>
              <a:t>Kata sandi kuat:</a:t>
            </a:r>
            <a:r>
              <a:rPr sz="1650" b="0">
                <a:solidFill>
                  <a:srgbClr val="6B7280"/>
                </a:solidFill>
                <a:latin typeface="Segoe UI"/>
              </a:rPr>
              <a:t> panjang minimal, campuran huruf/angka, tanpa pola berurutan.</a:t>
            </a:r>
          </a:p>
          <a:p>
            <a:pPr algn="l">
              <a:spcAft>
                <a:spcPts val="1100"/>
              </a:spcAft>
            </a:pPr>
            <a:r>
              <a:rPr sz="1650" b="1">
                <a:solidFill>
                  <a:srgbClr val="C9A227"/>
                </a:solidFill>
                <a:latin typeface="Segoe UI"/>
              </a:rPr>
              <a:t>▪  </a:t>
            </a:r>
            <a:r>
              <a:rPr sz="1650" b="1">
                <a:solidFill>
                  <a:srgbClr val="1F2937"/>
                </a:solidFill>
                <a:latin typeface="Segoe UI"/>
              </a:rPr>
              <a:t>Keluar (logout) saat selesai menggunakan</a:t>
            </a:r>
          </a:p>
          <a:p>
            <a:pPr algn="l">
              <a:spcAft>
                <a:spcPts val="1100"/>
              </a:spcAft>
            </a:pPr>
            <a:r>
              <a:rPr sz="1650" b="1">
                <a:solidFill>
                  <a:srgbClr val="C9A227"/>
                </a:solidFill>
                <a:latin typeface="Segoe UI"/>
              </a:rPr>
              <a:t>▪  </a:t>
            </a:r>
            <a:r>
              <a:rPr sz="1650" b="1">
                <a:solidFill>
                  <a:srgbClr val="1F2937"/>
                </a:solidFill>
                <a:latin typeface="Segoe UI"/>
              </a:rPr>
              <a:t>Hanya unduh/bagikan dokumen sesuai kewenangan &amp; access level.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1828800"/>
            <a:ext cx="4846320" cy="38404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0" y="205740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C8102E"/>
                </a:solidFill>
                <a:latin typeface="Segoe UI"/>
              </a:rPr>
              <a:t>Perlindungan sistem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560320"/>
            <a:ext cx="4114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450" b="0">
                <a:solidFill>
                  <a:srgbClr val="1F2937"/>
                </a:solidFill>
                <a:latin typeface="Segoe UI"/>
              </a:rPr>
              <a:t>▪  Security headers bawaan.</a:t>
            </a:r>
          </a:p>
          <a:p>
            <a:pPr algn="l">
              <a:spcAft>
                <a:spcPts val="900"/>
              </a:spcAft>
            </a:pPr>
            <a:r>
              <a:rPr sz="1450" b="0">
                <a:solidFill>
                  <a:srgbClr val="1F2937"/>
                </a:solidFill>
                <a:latin typeface="Segoe UI"/>
              </a:rPr>
              <a:t>▪  Pembatasan rate (login &amp; aksi dokumen).</a:t>
            </a:r>
          </a:p>
          <a:p>
            <a:pPr algn="l">
              <a:spcAft>
                <a:spcPts val="900"/>
              </a:spcAft>
            </a:pPr>
            <a:r>
              <a:rPr sz="1450" b="0">
                <a:solidFill>
                  <a:srgbClr val="1F2937"/>
                </a:solidFill>
                <a:latin typeface="Segoe UI"/>
              </a:rPr>
              <a:t>▪  CSRF, validasi input, password ter-hash.</a:t>
            </a:r>
          </a:p>
          <a:p>
            <a:pPr algn="l">
              <a:spcAft>
                <a:spcPts val="900"/>
              </a:spcAft>
            </a:pPr>
            <a:r>
              <a:rPr sz="1450" b="0">
                <a:solidFill>
                  <a:srgbClr val="1F2937"/>
                </a:solidFill>
                <a:latin typeface="Segoe UI"/>
              </a:rPr>
              <a:t>▪  File privat tanpa URL publik.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33500"/>
            <a:ext cx="12191695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C8102E"/>
                </a:solidFill>
                <a:latin typeface="Segoe UI"/>
              </a:rPr>
              <a:t>PENUTUP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Segoe UI Light"/>
              </a:rPr>
              <a:t>Ringkasan &amp; Dukungan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228600"/>
            <a:ext cx="1005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>
                <a:solidFill>
                  <a:srgbClr val="6B7280"/>
                </a:solidFill>
                <a:latin typeface="Segoe UI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</a:pPr>
            <a:r>
              <a:rPr sz="1650" b="1">
                <a:solidFill>
                  <a:srgbClr val="C9A227"/>
                </a:solidFill>
                <a:latin typeface="Segoe UI"/>
              </a:rPr>
              <a:t>▪  </a:t>
            </a:r>
            <a:r>
              <a:rPr sz="1650" b="1">
                <a:solidFill>
                  <a:srgbClr val="1F2937"/>
                </a:solidFill>
                <a:latin typeface="Segoe UI"/>
              </a:rPr>
              <a:t>TeknisHub = sumber tunggal dokumen resmi Divisi Teknis.</a:t>
            </a:r>
          </a:p>
          <a:p>
            <a:pPr algn="l">
              <a:spcAft>
                <a:spcPts val="1100"/>
              </a:spcAft>
            </a:pPr>
            <a:r>
              <a:rPr sz="1650" b="1">
                <a:solidFill>
                  <a:srgbClr val="C9A227"/>
                </a:solidFill>
                <a:latin typeface="Segoe UI"/>
              </a:rPr>
              <a:t>▪  </a:t>
            </a:r>
            <a:r>
              <a:rPr sz="1650" b="1">
                <a:solidFill>
                  <a:srgbClr val="1F2937"/>
                </a:solidFill>
                <a:latin typeface="Segoe UI"/>
              </a:rPr>
              <a:t>Gunakan menu sidebar sesuai hak akses Anda.</a:t>
            </a:r>
          </a:p>
          <a:p>
            <a:pPr algn="l">
              <a:spcAft>
                <a:spcPts val="1100"/>
              </a:spcAft>
            </a:pPr>
            <a:r>
              <a:rPr sz="1650" b="1">
                <a:solidFill>
                  <a:srgbClr val="C9A227"/>
                </a:solidFill>
                <a:latin typeface="Segoe UI"/>
              </a:rPr>
              <a:t>▪  </a:t>
            </a:r>
            <a:r>
              <a:rPr sz="1650" b="1">
                <a:solidFill>
                  <a:srgbClr val="1F2937"/>
                </a:solidFill>
                <a:latin typeface="Segoe UI"/>
              </a:rPr>
              <a:t>Cari cepat:</a:t>
            </a:r>
            <a:r>
              <a:rPr sz="1650" b="0">
                <a:solidFill>
                  <a:srgbClr val="6B7280"/>
                </a:solidFill>
                <a:latin typeface="Segoe UI"/>
              </a:rPr>
              <a:t> kata kunci + filter + ekspor CSV.</a:t>
            </a:r>
          </a:p>
          <a:p>
            <a:pPr algn="l">
              <a:spcAft>
                <a:spcPts val="1100"/>
              </a:spcAft>
            </a:pPr>
            <a:r>
              <a:rPr sz="1650" b="1">
                <a:solidFill>
                  <a:srgbClr val="C9A227"/>
                </a:solidFill>
                <a:latin typeface="Segoe UI"/>
              </a:rPr>
              <a:t>▪  </a:t>
            </a:r>
            <a:r>
              <a:rPr sz="1650" b="1">
                <a:solidFill>
                  <a:srgbClr val="1F2937"/>
                </a:solidFill>
                <a:latin typeface="Segoe UI"/>
              </a:rPr>
              <a:t>Selalu pantau versi &amp; arsip agar dokumen tetap akurat.</a:t>
            </a:r>
          </a:p>
          <a:p>
            <a:pPr algn="l">
              <a:spcAft>
                <a:spcPts val="1100"/>
              </a:spcAft>
            </a:pPr>
            <a:r>
              <a:rPr sz="1650" b="1">
                <a:solidFill>
                  <a:srgbClr val="C9A227"/>
                </a:solidFill>
                <a:latin typeface="Segoe UI"/>
              </a:rPr>
              <a:t>▪  </a:t>
            </a:r>
            <a:r>
              <a:rPr sz="1650" b="1">
                <a:solidFill>
                  <a:srgbClr val="1F2937"/>
                </a:solidFill>
                <a:latin typeface="Segoe UI"/>
              </a:rPr>
              <a:t>Bantu jaga keamanan:</a:t>
            </a:r>
            <a:r>
              <a:rPr sz="1650" b="0">
                <a:solidFill>
                  <a:srgbClr val="6B7280"/>
                </a:solidFill>
                <a:latin typeface="Segoe UI"/>
              </a:rPr>
              <a:t> sandi kuat, logout, akses sesuai kewenangan.</a:t>
            </a:r>
          </a:p>
          <a:p>
            <a:pPr algn="l">
              <a:spcAft>
                <a:spcPts val="1100"/>
              </a:spcAft>
            </a:pPr>
            <a:r>
              <a:rPr sz="1650" b="1">
                <a:solidFill>
                  <a:srgbClr val="C9A227"/>
                </a:solidFill>
                <a:latin typeface="Segoe UI"/>
              </a:rPr>
              <a:t>▪  </a:t>
            </a:r>
            <a:r>
              <a:rPr sz="1650" b="1">
                <a:solidFill>
                  <a:srgbClr val="1F2937"/>
                </a:solidFill>
                <a:latin typeface="Segoe UI"/>
              </a:rPr>
              <a:t>Kendala? Hubungi administrator TeknisHub.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828800"/>
            <a:ext cx="4206240" cy="3840480"/>
          </a:xfrm>
          <a:prstGeom prst="round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210312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Dokumentasi teknis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651760"/>
            <a:ext cx="347472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DD9DE"/>
                </a:solidFill>
                <a:latin typeface="Segoe UI"/>
              </a:rPr>
              <a:t>README.md \ teknis-hub
Skema database: docs/database.md
Pengembang: github.com/fahmikip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